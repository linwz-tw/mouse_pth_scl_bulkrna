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76"/>
    <p:restoredTop sz="92318"/>
  </p:normalViewPr>
  <p:slideViewPr>
    <p:cSldViewPr snapToGrid="0">
      <p:cViewPr varScale="1">
        <p:scale>
          <a:sx n="98" d="100"/>
          <a:sy n="98" d="100"/>
        </p:scale>
        <p:origin x="4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20FF9-8D62-47A7-A3DA-5F019A7A543D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BCBFE-1C13-4E67-971F-32691C6C4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(PCA) between samples in the same group and among the group?  </a:t>
            </a:r>
          </a:p>
          <a:p>
            <a:r>
              <a:rPr lang="en-US" dirty="0"/>
              <a:t>Change among time point (Veh 2,4,10,12w)? Make a table.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5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Venn of significant genes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332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3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html to my/team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6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question ? What is common/different group (treatment/time point)? QC?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BCBFE-1C13-4E67-971F-32691C6C42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817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B8C0-BD28-1482-5764-9C79738B5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EC7DD-8FA8-B6DD-C0AD-48DEBE99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FB431-3864-98D0-D02E-B37FE144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74F6-37F0-4EEA-9942-F930E9E5715F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705E4-F0C8-E59D-D1F5-95370584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77345-AF04-8E7F-1CE2-14E3EAA1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2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58F4-A994-0800-1A75-72997A91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06489-691F-490C-2B4B-27CC38FE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23D67-FC64-3927-1352-BE468A27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393CE-EAEA-4D8D-9747-DE2E268DFF63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F4EB0-107D-DC12-FCE2-49BED570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21F56-0BA2-4002-907A-E445AE46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5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5E7E-94B8-51FC-7736-978F67CD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75850-2251-CA5A-3644-7945CF61E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2FD34-EC15-387A-EE10-2924F22E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661-2C13-4E55-859E-3E8DC28479FF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736D0-53BF-B022-BCB6-DD3AA5FE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C6A4D-EF87-E600-543F-09F11951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9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82C5-84AE-61E7-1505-D50F46DE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ED1F-2FA8-2E27-2C52-B7EB84F0B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C3CA2-BCF4-9FBA-DDF4-FBD6C38A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E01F5-05BF-7479-2EB0-67BB9B93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DB6-8354-41BB-8B5A-D493666697E0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C3D71-DB35-78FA-0C6F-8DF2319A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94D37-BB0D-F027-3B77-08F826AA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6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3FBD-68B5-B7F0-395E-E49A950E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735B4-6262-3D8C-543D-17A400FF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32236-6ED4-E03B-67BB-BE0F80B96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6BE3B-4467-11F0-E484-69966C61D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5993D-7B08-A65C-BAB7-1173C68BE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61B61-72B5-E927-56D6-9A1017D96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601C-A4E4-449C-BDDF-2C422187AC03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4CB36-EE41-9DE2-3F79-16F286D3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4A391-33D3-42A4-49C7-3717D8F1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7D81-0940-D5EA-A3BE-B662BC5E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B3796-A18B-1E0E-A4D5-80D21D1D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9FE77-111F-4E3C-8522-D3769045DAE2}" type="datetime1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8752C-805E-116A-2A06-9FA8FC31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4F74-7E3C-3D98-A0D9-B52D2955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9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C6F8FF-FA2D-3F43-860E-39306086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E3E78-A936-4B5E-8F1D-CA3DC4216F4F}" type="datetime1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EC528-2276-95EF-4EB9-1CA012243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2BB8A-FC1A-78FA-92A9-968DE841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E785-ABEF-93D0-EAC5-688F59AC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2090E-F7F5-25DA-D8D1-A5F87DCD9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8AE04-BFB4-61AE-2829-4C92574E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EF694-795D-6ED4-03B7-B728E588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B62B-153F-4D5A-AF5D-C30B32A9BCF9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AE09E-9502-D1C0-0241-9E6E01CD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65DD4-92B0-884E-FB4F-82ADAF7FA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9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3090-74F0-DED8-E37B-CF7ACEF3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A91E6-A2FE-CC9D-32D5-A9495D556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1165B-3DCC-0DBB-511B-02C921867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FDAC1-07F3-A1CD-7F50-AB27B5E2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BCCF-7C93-4C35-9D16-0C906F682E43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6C721-9204-EF1B-055B-77F16B84B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34F85-528C-48FF-0C8E-5DC6BA90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3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B2F0-8CDA-BC69-DCD8-6B57150B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39F80-7C83-4B53-AF47-A5AFECD75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74D13-CFE6-07CC-535D-FF4251C1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340A6-0811-4645-9D84-4C7B6113A739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5EEA7-3017-31BC-3C00-C9D727DF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078CF-417F-163E-0994-D6663B2F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5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DE68-014A-1E37-40BD-902B1CC83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CAF78-CEDD-0135-E19C-A791EF103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F703B-AB1D-FA45-0495-0B27063CA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2B12-5403-4379-8BC6-1152040BFF33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E1D0-70B1-E46D-69D4-03EAE93B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4FC03-6F89-5480-12CD-8B571C28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3B75F-47DF-CAE9-7B59-47E6CE31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1E3F2-50C0-3FF2-79C9-81A8B0255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A0B94-94E5-A78B-E3CD-C83A8CE84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F547D-34A6-4D23-B568-869D665A8864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3AABD-F57F-F828-FDAE-C66D25B04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8778-E268-5735-C9EC-71877AE57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5C141-6981-4785-983E-1D52A7132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6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2BBCE8-7147-1F7B-BE5C-2599EB46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458128-4A76-EE51-7CD2-460136DF1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006144"/>
              </p:ext>
            </p:extLst>
          </p:nvPr>
        </p:nvGraphicFramePr>
        <p:xfrm>
          <a:off x="838200" y="1676400"/>
          <a:ext cx="10297438" cy="1983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0622">
                  <a:extLst>
                    <a:ext uri="{9D8B030D-6E8A-4147-A177-3AD203B41FA5}">
                      <a16:colId xmlns:a16="http://schemas.microsoft.com/office/drawing/2014/main" val="2790972053"/>
                    </a:ext>
                  </a:extLst>
                </a:gridCol>
                <a:gridCol w="1421704">
                  <a:extLst>
                    <a:ext uri="{9D8B030D-6E8A-4147-A177-3AD203B41FA5}">
                      <a16:colId xmlns:a16="http://schemas.microsoft.com/office/drawing/2014/main" val="2928373279"/>
                    </a:ext>
                  </a:extLst>
                </a:gridCol>
                <a:gridCol w="1421704">
                  <a:extLst>
                    <a:ext uri="{9D8B030D-6E8A-4147-A177-3AD203B41FA5}">
                      <a16:colId xmlns:a16="http://schemas.microsoft.com/office/drawing/2014/main" val="3762654989"/>
                    </a:ext>
                  </a:extLst>
                </a:gridCol>
                <a:gridCol w="1421704">
                  <a:extLst>
                    <a:ext uri="{9D8B030D-6E8A-4147-A177-3AD203B41FA5}">
                      <a16:colId xmlns:a16="http://schemas.microsoft.com/office/drawing/2014/main" val="1471629451"/>
                    </a:ext>
                  </a:extLst>
                </a:gridCol>
                <a:gridCol w="1421704">
                  <a:extLst>
                    <a:ext uri="{9D8B030D-6E8A-4147-A177-3AD203B41FA5}">
                      <a16:colId xmlns:a16="http://schemas.microsoft.com/office/drawing/2014/main" val="24374360"/>
                    </a:ext>
                  </a:extLst>
                </a:gridCol>
              </a:tblGrid>
              <a:tr h="724317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Time point</a:t>
                      </a:r>
                    </a:p>
                    <a:p>
                      <a:r>
                        <a:rPr lang="en-US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576264"/>
                  </a:ext>
                </a:extLst>
              </a:tr>
              <a:tr h="419644">
                <a:tc>
                  <a:txBody>
                    <a:bodyPr/>
                    <a:lstStyle/>
                    <a:p>
                      <a:r>
                        <a:rPr lang="en-US" dirty="0"/>
                        <a:t>Veh (Sham-control)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954679"/>
                  </a:ext>
                </a:extLst>
              </a:tr>
              <a:tr h="419644">
                <a:tc>
                  <a:txBody>
                    <a:bodyPr/>
                    <a:lstStyle/>
                    <a:p>
                      <a:r>
                        <a:rPr lang="en-US" dirty="0" err="1"/>
                        <a:t>Scl</a:t>
                      </a:r>
                      <a:r>
                        <a:rPr lang="en-US" dirty="0"/>
                        <a:t> (sclerostin treatment)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352993"/>
                  </a:ext>
                </a:extLst>
              </a:tr>
              <a:tr h="419644">
                <a:tc>
                  <a:txBody>
                    <a:bodyPr/>
                    <a:lstStyle/>
                    <a:p>
                      <a:r>
                        <a:rPr lang="en-US" dirty="0"/>
                        <a:t>PTH (parathyroid hormone treatment)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312511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BC6026-5857-7498-3503-235A1A8D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0D618-A10E-AA60-3E8D-49C92753231F}"/>
              </a:ext>
            </a:extLst>
          </p:cNvPr>
          <p:cNvSpPr txBox="1"/>
          <p:nvPr/>
        </p:nvSpPr>
        <p:spPr>
          <a:xfrm>
            <a:off x="2774761" y="4402097"/>
            <a:ext cx="270279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Sequencing raw data (.</a:t>
            </a:r>
            <a:r>
              <a:rPr lang="en-US" dirty="0" err="1"/>
              <a:t>fq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A616C-BEBD-A676-038C-5F6C56D39EB3}"/>
              </a:ext>
            </a:extLst>
          </p:cNvPr>
          <p:cNvSpPr txBox="1"/>
          <p:nvPr/>
        </p:nvSpPr>
        <p:spPr>
          <a:xfrm>
            <a:off x="3178822" y="5326991"/>
            <a:ext cx="189186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Alignment (.bam)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BC10B-A5E1-565D-B5B6-F8B3298E83B4}"/>
              </a:ext>
            </a:extLst>
          </p:cNvPr>
          <p:cNvSpPr txBox="1"/>
          <p:nvPr/>
        </p:nvSpPr>
        <p:spPr>
          <a:xfrm>
            <a:off x="2426151" y="4863433"/>
            <a:ext cx="82586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mm39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D9971-EF30-F4F4-805A-1C84A7F9F1E9}"/>
              </a:ext>
            </a:extLst>
          </p:cNvPr>
          <p:cNvSpPr txBox="1"/>
          <p:nvPr/>
        </p:nvSpPr>
        <p:spPr>
          <a:xfrm>
            <a:off x="3173178" y="5975214"/>
            <a:ext cx="189898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Gene count table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FF916C-D1E0-EF27-D94E-4CD7B0E04C2C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4124755" y="4771429"/>
            <a:ext cx="1402" cy="555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CEAE3C-291B-B533-90B6-3B33C91F99AA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252018" y="5048099"/>
            <a:ext cx="8600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F7381CA-2584-6FAF-1E10-2609A1FC83FA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5072159" y="4451826"/>
            <a:ext cx="1525631" cy="17080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0E1BE4-EE59-C289-BB76-D87C1E094D51}"/>
              </a:ext>
            </a:extLst>
          </p:cNvPr>
          <p:cNvSpPr txBox="1"/>
          <p:nvPr/>
        </p:nvSpPr>
        <p:spPr>
          <a:xfrm>
            <a:off x="6597790" y="4128660"/>
            <a:ext cx="303839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Different expression analysis</a:t>
            </a:r>
          </a:p>
          <a:p>
            <a:pPr algn="ctr"/>
            <a:r>
              <a:rPr lang="en-US" dirty="0"/>
              <a:t>pydeseq2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956CEB-C9C4-1491-D869-6B70F87649C4}"/>
              </a:ext>
            </a:extLst>
          </p:cNvPr>
          <p:cNvSpPr txBox="1"/>
          <p:nvPr/>
        </p:nvSpPr>
        <p:spPr>
          <a:xfrm>
            <a:off x="7002548" y="5200797"/>
            <a:ext cx="22288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Pathway Enrichment</a:t>
            </a:r>
          </a:p>
          <a:p>
            <a:pPr algn="ctr"/>
            <a:r>
              <a:rPr lang="en-US" dirty="0" err="1"/>
              <a:t>Pathfind.R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57D12D-9C89-7559-4C2A-74DECF6CBB56}"/>
              </a:ext>
            </a:extLst>
          </p:cNvPr>
          <p:cNvSpPr txBox="1"/>
          <p:nvPr/>
        </p:nvSpPr>
        <p:spPr>
          <a:xfrm>
            <a:off x="7002548" y="6272934"/>
            <a:ext cx="68461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Venn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CD9522-7215-4B8C-A15D-E72C31DFD8E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4122669" y="5696323"/>
            <a:ext cx="2086" cy="278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D4EBA07-E3AB-4036-353E-E3DA3ED556D5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8116988" y="4774991"/>
            <a:ext cx="0" cy="425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18">
            <a:extLst>
              <a:ext uri="{FF2B5EF4-FFF2-40B4-BE49-F238E27FC236}">
                <a16:creationId xmlns:a16="http://schemas.microsoft.com/office/drawing/2014/main" id="{20E39D91-CD29-3ECB-172C-C1EB5034B9C3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518018" y="5673964"/>
            <a:ext cx="425806" cy="7721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5581F58-F616-1DE3-211B-08DBB558AA06}"/>
              </a:ext>
            </a:extLst>
          </p:cNvPr>
          <p:cNvSpPr txBox="1"/>
          <p:nvPr/>
        </p:nvSpPr>
        <p:spPr>
          <a:xfrm>
            <a:off x="8205826" y="6272934"/>
            <a:ext cx="102560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Network</a:t>
            </a:r>
          </a:p>
        </p:txBody>
      </p:sp>
      <p:cxnSp>
        <p:nvCxnSpPr>
          <p:cNvPr id="18" name="Connector: Elbow 18">
            <a:extLst>
              <a:ext uri="{FF2B5EF4-FFF2-40B4-BE49-F238E27FC236}">
                <a16:creationId xmlns:a16="http://schemas.microsoft.com/office/drawing/2014/main" id="{09ACF6D2-0086-20C2-58BD-ECB742650EF2}"/>
              </a:ext>
            </a:extLst>
          </p:cNvPr>
          <p:cNvCxnSpPr>
            <a:cxnSpLocks/>
            <a:stCxn id="22" idx="2"/>
            <a:endCxn id="16" idx="0"/>
          </p:cNvCxnSpPr>
          <p:nvPr/>
        </p:nvCxnSpPr>
        <p:spPr>
          <a:xfrm rot="16200000" flipH="1">
            <a:off x="8204904" y="5759211"/>
            <a:ext cx="425806" cy="6016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55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7A154-C900-89B3-0D8A-E708958A3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PTH vs Veh</a:t>
            </a:r>
          </a:p>
        </p:txBody>
      </p:sp>
      <p:pic>
        <p:nvPicPr>
          <p:cNvPr id="5" name="Content Placeholder 4" descr="A graph of red and grey dots&#10;&#10;AI-generated content may be incorrect.">
            <a:extLst>
              <a:ext uri="{FF2B5EF4-FFF2-40B4-BE49-F238E27FC236}">
                <a16:creationId xmlns:a16="http://schemas.microsoft.com/office/drawing/2014/main" id="{D3ABA950-1AAC-B03A-BD3C-CB16FBB71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3657600" cy="3135086"/>
          </a:xfrm>
        </p:spPr>
      </p:pic>
      <p:pic>
        <p:nvPicPr>
          <p:cNvPr id="7" name="Picture 6" descr="A graph of red and grey dots&#10;&#10;AI-generated content may be incorrect.">
            <a:extLst>
              <a:ext uri="{FF2B5EF4-FFF2-40B4-BE49-F238E27FC236}">
                <a16:creationId xmlns:a16="http://schemas.microsoft.com/office/drawing/2014/main" id="{C6C4A090-FB7B-E8A4-D311-113C77064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3914"/>
            <a:ext cx="3657600" cy="3135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A9AB31-0EDE-03D9-1B24-FE8BC7391C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72000" cy="3918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9B3799-4283-6D25-535E-DF98E3E9C401}"/>
              </a:ext>
            </a:extLst>
          </p:cNvPr>
          <p:cNvSpPr txBox="1"/>
          <p:nvPr/>
        </p:nvSpPr>
        <p:spPr>
          <a:xfrm>
            <a:off x="1560972" y="5609546"/>
            <a:ext cx="34996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(LogPTH12w – Log PTH4w) – (Log Veh10w – Log Veh2w)</a:t>
            </a:r>
          </a:p>
          <a:p>
            <a:r>
              <a:rPr lang="en-US" sz="1100" dirty="0">
                <a:solidFill>
                  <a:srgbClr val="FF0000"/>
                </a:solidFill>
              </a:rPr>
              <a:t>pyDESeq2 interaction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580FA-D10F-C770-DB19-D6C17C2DA1B8}"/>
              </a:ext>
            </a:extLst>
          </p:cNvPr>
          <p:cNvSpPr txBox="1"/>
          <p:nvPr/>
        </p:nvSpPr>
        <p:spPr>
          <a:xfrm>
            <a:off x="5854752" y="198715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Early stage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56A6CD-6CE7-77CA-68C9-111BE533B617}"/>
              </a:ext>
            </a:extLst>
          </p:cNvPr>
          <p:cNvSpPr txBox="1"/>
          <p:nvPr/>
        </p:nvSpPr>
        <p:spPr>
          <a:xfrm>
            <a:off x="5890017" y="3331357"/>
            <a:ext cx="8386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Late stage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99497C8-A69A-9952-3F18-6BCE09233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05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560F-E9F9-1403-D254-83FE7CEF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Scl</a:t>
            </a:r>
            <a:r>
              <a:rPr lang="en-US" dirty="0"/>
              <a:t> vs Veh</a:t>
            </a:r>
          </a:p>
        </p:txBody>
      </p:sp>
      <p:pic>
        <p:nvPicPr>
          <p:cNvPr id="5" name="Content Placeholder 4" descr="A graph of a graph&#10;&#10;AI-generated content may be incorrect.">
            <a:extLst>
              <a:ext uri="{FF2B5EF4-FFF2-40B4-BE49-F238E27FC236}">
                <a16:creationId xmlns:a16="http://schemas.microsoft.com/office/drawing/2014/main" id="{B54CE17B-A82E-AE4E-C465-74486544D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29" y="255449"/>
            <a:ext cx="3657600" cy="3135086"/>
          </a:xfrm>
        </p:spPr>
      </p:pic>
      <p:pic>
        <p:nvPicPr>
          <p:cNvPr id="7" name="Picture 6" descr="A graph of red and grey dots&#10;&#10;AI-generated content may be incorrect.">
            <a:extLst>
              <a:ext uri="{FF2B5EF4-FFF2-40B4-BE49-F238E27FC236}">
                <a16:creationId xmlns:a16="http://schemas.microsoft.com/office/drawing/2014/main" id="{93FAE8CB-B80E-67F1-FA1D-78D582B87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29" y="3390535"/>
            <a:ext cx="3657600" cy="31350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0866F5-82A5-3118-30F8-7AB786A439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72000" cy="39188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E1D60A-B7DE-6284-EAD7-09D9B23B1A15}"/>
              </a:ext>
            </a:extLst>
          </p:cNvPr>
          <p:cNvSpPr txBox="1"/>
          <p:nvPr/>
        </p:nvSpPr>
        <p:spPr>
          <a:xfrm>
            <a:off x="1560972" y="5609546"/>
            <a:ext cx="34419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(LogScl10w – Log Scl2w) – (Log Veh10w – Log Veh2w)</a:t>
            </a:r>
          </a:p>
          <a:p>
            <a:r>
              <a:rPr lang="en-US" sz="1100" dirty="0">
                <a:solidFill>
                  <a:srgbClr val="FF0000"/>
                </a:solidFill>
              </a:rPr>
              <a:t>DESeq2 interaction model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BF6C9D8-DCAC-9E73-CC45-98EF239A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3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5D6BF-22EB-E1A1-A0EF-BF3C780432F3}"/>
              </a:ext>
            </a:extLst>
          </p:cNvPr>
          <p:cNvSpPr txBox="1"/>
          <p:nvPr/>
        </p:nvSpPr>
        <p:spPr>
          <a:xfrm>
            <a:off x="9835229" y="589454"/>
            <a:ext cx="1988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Only 3 significant genes, skip for pathway enrichment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C14AC-A165-9C58-01C2-16721EDCEB49}"/>
              </a:ext>
            </a:extLst>
          </p:cNvPr>
          <p:cNvSpPr txBox="1"/>
          <p:nvPr/>
        </p:nvSpPr>
        <p:spPr>
          <a:xfrm>
            <a:off x="5854752" y="198715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Early stage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78695D-5645-A1E1-FB06-02AC5E7C5491}"/>
              </a:ext>
            </a:extLst>
          </p:cNvPr>
          <p:cNvSpPr txBox="1"/>
          <p:nvPr/>
        </p:nvSpPr>
        <p:spPr>
          <a:xfrm>
            <a:off x="5890017" y="3331357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late stage </a:t>
            </a:r>
          </a:p>
        </p:txBody>
      </p:sp>
    </p:spTree>
    <p:extLst>
      <p:ext uri="{BB962C8B-B14F-4D97-AF65-F5344CB8AC3E}">
        <p14:creationId xmlns:p14="http://schemas.microsoft.com/office/powerpoint/2010/main" val="3230819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2126-7B50-6606-A421-8DC8EFF0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PTH vs </a:t>
            </a:r>
            <a:r>
              <a:rPr lang="en-US" dirty="0" err="1"/>
              <a:t>Scl</a:t>
            </a:r>
            <a:endParaRPr lang="en-US" dirty="0"/>
          </a:p>
        </p:txBody>
      </p:sp>
      <p:pic>
        <p:nvPicPr>
          <p:cNvPr id="5" name="Content Placeholder 4" descr="A graph of red and black dots&#10;&#10;AI-generated content may be incorrect.">
            <a:extLst>
              <a:ext uri="{FF2B5EF4-FFF2-40B4-BE49-F238E27FC236}">
                <a16:creationId xmlns:a16="http://schemas.microsoft.com/office/drawing/2014/main" id="{CAB69870-BEE1-BD5E-3A80-C9FB4059E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48" y="1690688"/>
            <a:ext cx="3657600" cy="3135086"/>
          </a:xfrm>
        </p:spPr>
      </p:pic>
      <p:pic>
        <p:nvPicPr>
          <p:cNvPr id="7" name="Picture 6" descr="A graph of red and gray dots&#10;&#10;AI-generated content may be incorrect.">
            <a:extLst>
              <a:ext uri="{FF2B5EF4-FFF2-40B4-BE49-F238E27FC236}">
                <a16:creationId xmlns:a16="http://schemas.microsoft.com/office/drawing/2014/main" id="{A89C6EFA-74C4-02E3-E424-0FB0C08B8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344" y="123145"/>
            <a:ext cx="3657600" cy="3135086"/>
          </a:xfrm>
          <a:prstGeom prst="rect">
            <a:avLst/>
          </a:prstGeom>
        </p:spPr>
      </p:pic>
      <p:pic>
        <p:nvPicPr>
          <p:cNvPr id="9" name="Picture 8" descr="A graph of red and blue dots&#10;&#10;AI-generated content may be incorrect.">
            <a:extLst>
              <a:ext uri="{FF2B5EF4-FFF2-40B4-BE49-F238E27FC236}">
                <a16:creationId xmlns:a16="http://schemas.microsoft.com/office/drawing/2014/main" id="{F6141AC3-A739-42A1-E06A-F84555F847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995" y="3323545"/>
            <a:ext cx="3657600" cy="31350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D94DF4-0D8F-746A-516B-472B623D95B8}"/>
              </a:ext>
            </a:extLst>
          </p:cNvPr>
          <p:cNvSpPr txBox="1"/>
          <p:nvPr/>
        </p:nvSpPr>
        <p:spPr>
          <a:xfrm>
            <a:off x="245199" y="4835870"/>
            <a:ext cx="3618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 mean(PTH all sample)) – (Log mean (</a:t>
            </a:r>
            <a:r>
              <a:rPr lang="en-US" sz="1100" dirty="0" err="1"/>
              <a:t>Scl</a:t>
            </a:r>
            <a:r>
              <a:rPr lang="en-US" sz="1100" dirty="0"/>
              <a:t> all sample))</a:t>
            </a:r>
          </a:p>
        </p:txBody>
      </p:sp>
      <p:pic>
        <p:nvPicPr>
          <p:cNvPr id="12" name="Picture 11" descr="A graph with red dots and numbers&#10;&#10;AI-generated content may be incorrect.">
            <a:extLst>
              <a:ext uri="{FF2B5EF4-FFF2-40B4-BE49-F238E27FC236}">
                <a16:creationId xmlns:a16="http://schemas.microsoft.com/office/drawing/2014/main" id="{DF4A57F9-255B-C722-1D20-13B454E587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446" y="1690688"/>
            <a:ext cx="3657600" cy="3200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F80BB4-C39C-1FBC-A78A-B1EB569DF665}"/>
              </a:ext>
            </a:extLst>
          </p:cNvPr>
          <p:cNvSpPr txBox="1"/>
          <p:nvPr/>
        </p:nvSpPr>
        <p:spPr>
          <a:xfrm>
            <a:off x="4121292" y="4835870"/>
            <a:ext cx="34099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(LogPTH12w – Log PTH4w) – (Log Scl10w – Log Scl2w)</a:t>
            </a:r>
          </a:p>
          <a:p>
            <a:r>
              <a:rPr lang="en-US" sz="1100" dirty="0">
                <a:solidFill>
                  <a:srgbClr val="FF0000"/>
                </a:solidFill>
              </a:rPr>
              <a:t>Warning: This may not be a good compare method!!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7078A9-2646-80B0-EC33-0AE9CE037A3D}"/>
              </a:ext>
            </a:extLst>
          </p:cNvPr>
          <p:cNvSpPr txBox="1"/>
          <p:nvPr/>
        </p:nvSpPr>
        <p:spPr>
          <a:xfrm>
            <a:off x="9274334" y="3127426"/>
            <a:ext cx="8755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Early stage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DBABAA-0A48-30A6-731D-DB437E1D5E73}"/>
              </a:ext>
            </a:extLst>
          </p:cNvPr>
          <p:cNvSpPr txBox="1"/>
          <p:nvPr/>
        </p:nvSpPr>
        <p:spPr>
          <a:xfrm>
            <a:off x="9435878" y="6327825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late stage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83A7B10-BB07-F76D-63C9-1EC41D33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9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3E4F-2A35-4364-6820-B0AA0C69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expression viewer (.html)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71729D-F550-75E1-94B3-954643C3D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06" y="1508126"/>
            <a:ext cx="9243988" cy="503078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A3792-EB8C-042D-5B15-82CF9122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3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92B2-DB14-8134-EC05-991CF27C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9759A-24CF-B289-57F3-9EF23B3E7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Currently, significant genes are enriched to pathway based on KEGG. </a:t>
            </a:r>
          </a:p>
          <a:p>
            <a:r>
              <a:rPr lang="en-US" dirty="0"/>
              <a:t>Six group of enriched pathways:</a:t>
            </a:r>
          </a:p>
          <a:p>
            <a:pPr lvl="1"/>
            <a:r>
              <a:rPr lang="en-US" dirty="0"/>
              <a:t>PTH12w_vs_Veh12w</a:t>
            </a:r>
          </a:p>
          <a:p>
            <a:pPr lvl="1"/>
            <a:r>
              <a:rPr lang="en-US" dirty="0"/>
              <a:t>PTH4w_vs_Veh4w</a:t>
            </a:r>
          </a:p>
          <a:p>
            <a:pPr lvl="1"/>
            <a:r>
              <a:rPr lang="en-US" dirty="0"/>
              <a:t>SCL10w_vs_Veh10w</a:t>
            </a:r>
          </a:p>
          <a:p>
            <a:pPr lvl="1"/>
            <a:r>
              <a:rPr lang="en-US" dirty="0"/>
              <a:t>PTH4w_vs_SCL2w</a:t>
            </a:r>
          </a:p>
          <a:p>
            <a:pPr lvl="1"/>
            <a:r>
              <a:rPr lang="en-US" dirty="0"/>
              <a:t>PTH12w_vs_SCL10w</a:t>
            </a:r>
          </a:p>
          <a:p>
            <a:pPr lvl="1"/>
            <a:r>
              <a:rPr lang="en-US" dirty="0" err="1"/>
              <a:t>PTH_vs_SCL_overall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EAB9A-6BE0-1A45-3A35-DE743734C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8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3495-48F7-62E4-09E2-4E0BA7A3D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Pathways </a:t>
            </a:r>
            <a:r>
              <a:rPr lang="en-US" dirty="0" err="1"/>
              <a:t>venn</a:t>
            </a:r>
            <a:r>
              <a:rPr lang="en-US" dirty="0"/>
              <a:t>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F1AD81-49E3-5C03-912D-A373FE5A7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154" y="1272468"/>
            <a:ext cx="8378298" cy="55855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8D7AA-9F26-3DA1-3F56-931B2E548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35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5DC6-B92D-5EF3-92C3-410DED32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Pathways </a:t>
            </a:r>
            <a:r>
              <a:rPr lang="en-US" dirty="0" err="1"/>
              <a:t>venn</a:t>
            </a:r>
            <a:r>
              <a:rPr lang="en-US" dirty="0"/>
              <a:t> viewer (.html)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5F8794-45F7-B1EE-007F-5FB632F4A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470024"/>
            <a:ext cx="10521406" cy="48863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D6EF7-D212-52FE-531B-540D0189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5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86AAB-4ADF-0361-AF9A-CC0A5476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9691"/>
          </a:xfrm>
        </p:spPr>
        <p:txBody>
          <a:bodyPr/>
          <a:lstStyle/>
          <a:p>
            <a:r>
              <a:rPr lang="en-US" dirty="0"/>
              <a:t>Networks (.html)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68F2F-5AF0-B115-94D0-564357FEE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5C141-6981-4785-983E-1D52A7132E3C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19F39F-4445-EF03-49F6-0C8F5D047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4382"/>
            <a:ext cx="4274665" cy="3960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7BDE4B-55FF-E810-99A5-8317BD88732A}"/>
              </a:ext>
            </a:extLst>
          </p:cNvPr>
          <p:cNvSpPr txBox="1"/>
          <p:nvPr/>
        </p:nvSpPr>
        <p:spPr>
          <a:xfrm>
            <a:off x="0" y="1447399"/>
            <a:ext cx="4274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96837" algn="ctr"/>
            <a:r>
              <a:rPr lang="en-US" dirty="0"/>
              <a:t>PTH12w_vs_Veh12w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8BA347-0DD8-B627-8026-1DB8961CBC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665" y="2617471"/>
            <a:ext cx="3243665" cy="3194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58A683-CFF7-C7DE-AAD4-0FA3D6A1C7E3}"/>
              </a:ext>
            </a:extLst>
          </p:cNvPr>
          <p:cNvSpPr txBox="1"/>
          <p:nvPr/>
        </p:nvSpPr>
        <p:spPr>
          <a:xfrm>
            <a:off x="4274664" y="2149314"/>
            <a:ext cx="3243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96837" algn="ctr"/>
            <a:r>
              <a:rPr lang="en-US" dirty="0"/>
              <a:t>SCL10w_vs_Veh10w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B9FC33-F878-61C3-AA32-B1790DB893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977" y="1823663"/>
            <a:ext cx="4225718" cy="43419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7B3C74-2295-57FC-9693-F2628DB31632}"/>
              </a:ext>
            </a:extLst>
          </p:cNvPr>
          <p:cNvSpPr txBox="1"/>
          <p:nvPr/>
        </p:nvSpPr>
        <p:spPr>
          <a:xfrm>
            <a:off x="8185003" y="1447399"/>
            <a:ext cx="3243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96837" algn="ctr"/>
            <a:r>
              <a:rPr lang="en-US" dirty="0" err="1"/>
              <a:t>PTH_vs_SCL_overall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6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321</Words>
  <Application>Microsoft Macintosh PowerPoint</Application>
  <PresentationFormat>Widescreen</PresentationFormat>
  <Paragraphs>81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Samples</vt:lpstr>
      <vt:lpstr>PTH vs Veh</vt:lpstr>
      <vt:lpstr>Scl vs Veh</vt:lpstr>
      <vt:lpstr>PTH vs Scl</vt:lpstr>
      <vt:lpstr>Gene expression viewer (.html)</vt:lpstr>
      <vt:lpstr>Pathway analysis</vt:lpstr>
      <vt:lpstr>Pathways venn analysis</vt:lpstr>
      <vt:lpstr>Pathways venn viewer (.html)</vt:lpstr>
      <vt:lpstr>Networks (.html)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WeiZhi Lin</dc:creator>
  <cp:lastModifiedBy>Wei-Zhi Lin</cp:lastModifiedBy>
  <cp:revision>12</cp:revision>
  <dcterms:created xsi:type="dcterms:W3CDTF">2025-11-04T15:14:31Z</dcterms:created>
  <dcterms:modified xsi:type="dcterms:W3CDTF">2025-11-13T22:36:33Z</dcterms:modified>
</cp:coreProperties>
</file>